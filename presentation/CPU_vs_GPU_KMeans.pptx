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68" r:id="rId27"/>
    <p:sldId id="269" r:id="rId28"/>
    <p:sldId id="270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07E-428C-97D4-CA78D6BD4F8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07E-428C-97D4-CA78D6BD4F8E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07E-428C-97D4-CA78D6BD4F8E}"/>
              </c:ext>
            </c:extLst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07E-428C-97D4-CA78D6BD4F8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Iris</c:v>
                </c:pt>
                <c:pt idx="1">
                  <c:v>Wine Quality</c:v>
                </c:pt>
                <c:pt idx="2">
                  <c:v>Covertype</c:v>
                </c:pt>
                <c:pt idx="3">
                  <c:v>HIGGS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0.40250000000000002</c:v>
                </c:pt>
                <c:pt idx="1">
                  <c:v>0.64049999999999996</c:v>
                </c:pt>
                <c:pt idx="2">
                  <c:v>4.5175000000000001</c:v>
                </c:pt>
                <c:pt idx="3">
                  <c:v>3.6137000000000001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07E-428C-97D4-CA78D6BD4F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1096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ADF51-286C-EBF4-0FD8-AAABBF25E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C035BD-6D0C-F1AF-289E-E7C9819DB4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9F48A-1C21-66F0-B0B5-DFF5DE742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CC6DE-3097-90C9-6285-7268B65DD4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3090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4DB98-34B3-351C-42EB-84314D002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7F710-10A6-DAC9-4FC0-A2EF1E971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4355D-98FA-EFF8-47A6-3857015A7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83546-FCA0-BD2C-1470-F79B181DD0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18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E5B6B-2BAD-077D-849E-D660A63DC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2BD123-6D84-CEF6-6971-E2112241C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7F62A4-F91A-2ED8-CF9C-A74741D1B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B61D5-6DF8-17E1-903B-65D9D4A9A4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193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2AF4B-3E29-36FC-FE07-53ABF7C0D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98D49-D892-35D2-5860-B98E195F1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750A0-F71A-F4A2-EAAE-1C0973DD6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06E97-83FF-CD3A-7CDB-D9F04D258C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4875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84D3C-9EDB-85FC-641F-A9DC6C9DC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7FF48-F0FA-4438-E653-378AC0C15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CDBA79-EC20-95D0-3EC2-4AB564C35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A71D5-E075-B907-1A09-084561A9C5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197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D7550-BBE8-27A8-1A33-F5C739F2F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511F8A-0B09-932D-407D-0FE577D5C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5AC5E-0F6E-EAFB-665D-2D0D1F98F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AF4E7-5191-040E-A73B-4B4DB6822C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628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72425-51C9-2C6F-F042-9051B759A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2E0D7D-717F-1F54-526F-AF007FD28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DC062-C025-D8AC-CBDA-4E82F6C7E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93C7B-FDEF-23FB-C650-7D1CC4E02D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828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19178-40A0-9217-D9F1-7542ED52A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F0EAB-1854-9A85-1DFD-3A14C19EC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7DB60-883A-868E-F4DA-4098444DF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90939-86A4-F152-ED75-F19D6B0F55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189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F5771-EFA7-9DB8-FDEB-0C8479B59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B90E39-59CC-51CF-C047-93FBB1108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BBE610-4C57-4247-DB45-7C9C465C5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6115E-023F-1CDC-0287-00750C657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902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8C87E-2A38-79EA-8385-DBEFB8ADE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A53AD5-46F8-5523-CF11-21D8CF475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CBD217-A833-B330-D6B4-CD4102C1D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A8302-57AD-853C-6F58-9684162AD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539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0AC8F-C8A8-33AD-35EF-EFB7A4639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E2A68-78B6-1E14-4630-CAB599D31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73AB1-34E3-2BDE-E369-BCF6D76CF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8A8EC-8A22-2637-290B-1EB77A505C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9979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1E350-1BCC-2A4A-09C9-63621FF00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2032E-3444-A9C3-B39E-4B942A085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1FF70-373B-E35D-1BA6-F5BFAEFFE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6428D-6A0C-370A-F198-6E81B2A30A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1314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3D932-ED60-28E2-93CF-D6A1BC0AF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656449-D6FC-1546-A25E-40FE872D7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FF1ADE-E619-8DF3-DB8D-D75B17B89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CC6C3-8C47-81AE-3523-972D2E9AD4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229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4114800" cy="50794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737360" y="14630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005840"/>
            <a:ext cx="1097280" cy="1097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60320" y="2194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283464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2926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Max Speedup: ~50× (12 Dataset)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7200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lebih cepat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dataset besar–sangat besar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38912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BESAR KELOMPOK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389120" y="7315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Performa
</a:t>
            </a: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vs GPU
</a:t>
            </a: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K-Means Clustering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4389120" y="2834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 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486400" y="28346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· 10× percobaan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389120" y="31272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 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486400" y="31272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Tesla T4 · 15.360 MB VRAM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389120" y="34198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 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486400" y="34198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· cuML + scikit-learn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389120" y="37124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Matkul  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486400" y="37124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Pembelajaran Mesin — Universitas Widyatama · 2026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389120" y="411480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26280" y="416052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KELOMPOK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526280" y="43251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 Kukuh Waskito Wibowo (230611018) · Ketua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Dafi Christian Simbolon (230611026)   ·   Muh. Fahrezi Tolani (230611010)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09728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115568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332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" y="127101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 &amp; Rumusan Masalah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192024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" y="2057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2075688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993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51560" y="22311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Hipotesis &amp; Metodologi Penelitian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288036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5488" y="301752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035808"/>
            <a:ext cx="393192" cy="393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2953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051560" y="319125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Hardware &amp; Kategori Dataset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65760" y="384048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" y="39776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995928"/>
            <a:ext cx="393192" cy="3931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3913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051560" y="41513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Eksperimen per Dataset (4 Dataset)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754880" y="96012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64608" y="109728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1115568"/>
            <a:ext cx="393192" cy="3931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10332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440680" y="127101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Speedup &amp; Perbandingan Performa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754880" y="192024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64608" y="2057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2075688"/>
            <a:ext cx="393192" cy="3931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40680" y="1993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440680" y="22311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Statistik Student's t-Test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754880" y="288036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864608" y="301752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3035808"/>
            <a:ext cx="393192" cy="39319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440680" y="2953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5440680" y="319125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&amp; Rekomendasi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754880" y="384048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864608" y="39776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328" y="3995928"/>
            <a:ext cx="393192" cy="39319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440680" y="3913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5440680" y="41513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Deskripsi Pekerjaan Anggota &amp; Referensi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 &amp; Rumusan Masalah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60520" cy="3840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2646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62456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memiliki kemampuan komputasi paralel jauh lebih tinggi dibanding CPU, berkat ribuan core CUDA yang dapat memproses data secara bersamaan.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020824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 dipengaruhi oleh ukuran dataset, distribusi data, dan kompleksitas clustering yang diterapkan.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67919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Diperlukan pengujian empiris kuantitatif untuk membuktikan keunggulan GPU secara statistik.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3756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menggunakan Independent Welch's t-Test (α=0.05) sebagai metode validasi statistik.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868680"/>
            <a:ext cx="41605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868680"/>
            <a:ext cx="41605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8778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Masalah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3716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57800" y="1335024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GPU memiliki performa lebih baik dari CPU pada unsupervised learning (K-Means)?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02996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1993392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ukuran dataset memengaruhi perbedaan performa CPU dan GPU?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68833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688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265176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distribusi dataset memengaruhi performa CPU dan GPU?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334670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7800" y="331012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perbedaan performa tersebut signifikan secara statistik (t-Test)?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Hipotesis &amp; Metodologi Penelitian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—  Hipotesis Nol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terdapat perbedaan signifikan antara CPU dan GPU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unsupervised learning K-Means Clustering.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μ_CPU = μ_GPU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—  Hipotesis Alternatif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234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Terdapat perbedaan signifikan. GPU lebih cepat dari CPU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unsupervised learning K-Means Clustering.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171907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μ_GPU &lt; μ_CPU   |   α = 0.05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20848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Metodologi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496312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262432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3040" y="254203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21868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Dataset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6118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kategori ukuran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(Kecil → Sangat Besar)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92808" y="3685032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011680" y="2496312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359152" y="262432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254203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321868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36118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(Z-Score Normalisasi)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30168" y="3685032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749040" y="2496312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096512" y="262432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254203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0" y="321868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40480" y="36118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CPU (sklearn)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GPU (cuML)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367528" y="3685032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5486400" y="2496312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833872" y="262432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0" y="254203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77840" y="321868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Pengumpulan Data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77840" y="36118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percobaan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kombinasi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104888" y="3685032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7223760" y="2496312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571232" y="262432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12480" y="254203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0" y="321868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t-Test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0" y="36118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Welch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Hardware &amp; Kategori Dataset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6052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869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0200" y="130759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Xeon (Google Colab)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00200" y="162763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(Runtime CPU)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9476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194767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1.6.1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2677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00200" y="22677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+ NumPy 2.0.2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86868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868680"/>
            <a:ext cx="41605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8869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1307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5040" y="130759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Tesla T4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1627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35040" y="162763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15.360 MB (15 GB)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19476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35040" y="194767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13.0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2677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35040" y="22677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580.82.07  ·  cuML 26.02.000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Dataset &amp; Justifikasi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" y="3154680"/>
            <a:ext cx="105156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172968"/>
            <a:ext cx="9784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325880" y="3154680"/>
            <a:ext cx="132588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3172968"/>
            <a:ext cx="12527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51760" y="3154680"/>
            <a:ext cx="100584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97480" y="3172968"/>
            <a:ext cx="9326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Sampel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0" y="3154680"/>
            <a:ext cx="50292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3172968"/>
            <a:ext cx="429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60520" y="3154680"/>
            <a:ext cx="68580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3172968"/>
            <a:ext cx="6126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3154680"/>
            <a:ext cx="434340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172968"/>
            <a:ext cx="42702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Justifikasi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3474720"/>
            <a:ext cx="1051560" cy="33832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502152"/>
            <a:ext cx="9784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Kecil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325880" y="3474720"/>
            <a:ext cx="13258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0" y="3502152"/>
            <a:ext cx="12527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Iris, Seeds, Wine UCI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651760" y="3474720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97480" y="3502152"/>
            <a:ext cx="9326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150–210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0" y="3474720"/>
            <a:ext cx="502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03320" y="3502152"/>
            <a:ext cx="429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4–13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160520" y="3474720"/>
            <a:ext cx="685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06240" y="3502152"/>
            <a:ext cx="6126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KB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46320" y="3474720"/>
            <a:ext cx="4343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3502152"/>
            <a:ext cx="42702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Sampel 150–210, overhead GPU &gt; manfaat paralel; speedup &lt; 1×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" y="3813048"/>
            <a:ext cx="1051560" cy="338328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3840480"/>
            <a:ext cx="9784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25880" y="3813048"/>
            <a:ext cx="132588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71600" y="3840480"/>
            <a:ext cx="12527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Quality, Adult, Dry Bean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651760" y="3813048"/>
            <a:ext cx="100584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97480" y="3840480"/>
            <a:ext cx="9326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5.318–48K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57600" y="3813048"/>
            <a:ext cx="50292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03320" y="3840480"/>
            <a:ext cx="429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6–16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160520" y="3813048"/>
            <a:ext cx="68580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06240" y="3840480"/>
            <a:ext cx="6126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MB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846320" y="3813048"/>
            <a:ext cx="434340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92040" y="3840480"/>
            <a:ext cx="42702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Ribuan–puluhan ribu baris; speedup GPU mulai terlihat (1–2×)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74320" y="4151376"/>
            <a:ext cx="1051560" cy="338328"/>
          </a:xfrm>
          <a:prstGeom prst="rect">
            <a:avLst/>
          </a:prstGeom>
          <a:solidFill>
            <a:srgbClr val="FEF9C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4178808"/>
            <a:ext cx="9784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Besar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325880" y="4151376"/>
            <a:ext cx="13258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371600" y="4178808"/>
            <a:ext cx="12527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Covertype, Poker Hand, Sensorless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651760" y="4151376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97480" y="4178808"/>
            <a:ext cx="9326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58K–581K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657600" y="4151376"/>
            <a:ext cx="502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03320" y="4178808"/>
            <a:ext cx="429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10–54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160520" y="4151376"/>
            <a:ext cx="685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06240" y="4178808"/>
            <a:ext cx="6126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MB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846320" y="4151376"/>
            <a:ext cx="4343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92040" y="4178808"/>
            <a:ext cx="42702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Ratusan ribu sampel; GPU unggul signifikan (speedup &gt; 4×)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74320" y="4489704"/>
            <a:ext cx="1051560" cy="338328"/>
          </a:xfrm>
          <a:prstGeom prst="rect">
            <a:avLst/>
          </a:prstGeom>
          <a:solidFill>
            <a:srgbClr val="FFE4E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4517136"/>
            <a:ext cx="9784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Besar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325880" y="4489704"/>
            <a:ext cx="132588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371600" y="4517136"/>
            <a:ext cx="125272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HIGGS, SUSY, Airline Delay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651760" y="4489704"/>
            <a:ext cx="100584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697480" y="4517136"/>
            <a:ext cx="93268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1.000.000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657600" y="4489704"/>
            <a:ext cx="50292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703320" y="4517136"/>
            <a:ext cx="429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5–28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160520" y="4489704"/>
            <a:ext cx="68580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206240" y="4517136"/>
            <a:ext cx="6126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GB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846320" y="4489704"/>
            <a:ext cx="4343400" cy="3383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92040" y="4517136"/>
            <a:ext cx="427024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Jutaan baris; GPU dominan (speedup 30–50×), disimpan di Google Drive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274320" y="491947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Setiap kategori terdiri dari 3 dataset; eksperimen dilakukan dengan N_RUNS=10 per dataset menggunakan GPU warm-up sebelum pengukuran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9144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Kecil — Iris, Seeds &amp; Wine UCI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59536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Sampel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0241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150–210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50592" y="8229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859536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42032" y="10241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26864" y="8229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859536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18304" y="10241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03136" y="8229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D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94576" y="859536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Percobaan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94576" y="10241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4320" y="1618488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618488"/>
            <a:ext cx="4160520" cy="3291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627632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Preprocessing &amp; Normalisasi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011680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00200" y="2011680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2350008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00200" y="2350008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Iris: 1 (dipertahankan); Seeds: 0; Wine UCI: 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688336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00200" y="2688336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(Z-Score)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026664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Keterangan: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00200" y="3026664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Iris: 4 fitur bunga; Seeds: 7 fitur benih gandum; Wine UCI: 13 fitur kimia anggur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1618488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618488"/>
            <a:ext cx="41605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627632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Eksperimen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201168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Avg Time: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201168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~14–20 ms (rata-rata 3 dataset)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235000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Avg Time: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2350008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~30–45 ms (rata-rata 3 dataset)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2688336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Ratio: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72200" y="2688336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0.40×–0.50× (CPU lebih cepat)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46320" y="302666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72200" y="3026664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Iris: 0.4599 | Seeds: ~0.52 | Wine UCI: ~0.57 (DBI 0.83–1.1)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593592"/>
            <a:ext cx="8595360" cy="1325880"/>
          </a:xfrm>
          <a:prstGeom prst="roundRect">
            <a:avLst>
              <a:gd name="adj" fmla="val 6897"/>
            </a:avLst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6393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Uji Statistik — Independent Welch's t-Test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959352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977640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t-statistik:  −5.60 (Iris) | semua negatif → GPU lebih lambat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880360" y="3959352"/>
            <a:ext cx="25603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0" y="3977640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 2.26e-4 (Iris) | seluruh dataset &lt;&lt; 0.05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77840" y="3913632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23560" y="3931920"/>
            <a:ext cx="3063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H₀ DITOLAK  (p &lt; 0.05)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9144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Sedang — Wine Quality, Adult &amp; Dry Bean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59536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Sampel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0241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5,318–48K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50592" y="8229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859536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42032" y="10241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6–16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26864" y="8229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859536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18304" y="10241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3–7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03136" y="8229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D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94576" y="859536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Percobaan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94576" y="10241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4320" y="1618488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618488"/>
            <a:ext cx="4160520" cy="3291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627632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Preprocessing &amp; Normalisasi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011680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00200" y="2011680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2350008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00200" y="2350008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Quality: 1.179 dihapus; Adult: NaN di-drop; Dry Bean: 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688336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00200" y="2688336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(Z-Score)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026664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Keterangan: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00200" y="3026664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Quality: kolom 'quality' dihapus; Adult: 6 fitur numerik; Dry Bean: file Excel UCI (k=7)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1618488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618488"/>
            <a:ext cx="41605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627632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Eksperimen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201168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Avg Time: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201168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43.5 ms–~2 s (Wine Quality → Adult)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235000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Avg Time: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2350008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ms–~1.5 s (GPU mulai mendekati CPU)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2688336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Ratio: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72200" y="2688336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0.64×–~1.3× (mendekati pariti; Adult mulai diatas 1×)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46320" y="302666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72200" y="3026664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Q: 0.2296 | Adult: ~0.25 | Dry Bean: ~0.44 (DBI 1.1–1.8)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593592"/>
            <a:ext cx="8595360" cy="1325880"/>
          </a:xfrm>
          <a:prstGeom prst="roundRect">
            <a:avLst>
              <a:gd name="adj" fmla="val 6897"/>
            </a:avLst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6393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Uji Statistik — Independent Welch's t-Test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959352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977640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t-statistik:  −5.527 (Wine Q) | semua negatif → GPU masih lebih lambat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880360" y="3959352"/>
            <a:ext cx="25603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0" y="3977640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 3.12e-4 (Wine Q) | seluruh dataset p &lt;&lt; 0.05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77840" y="3913632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23560" y="3931920"/>
            <a:ext cx="3063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H₀ DITOLAK  (p &lt; 0.05)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9144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Besar — Covertype, Poker Hand &amp; Sensorless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59536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Sampel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0241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58K–581K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50592" y="8229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859536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42032" y="10241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10–54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26864" y="8229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859536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18304" y="10241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03136" y="8229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D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94576" y="859536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Percobaan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94576" y="10241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4320" y="1618488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618488"/>
            <a:ext cx="4160520" cy="3291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627632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Preprocessing &amp; Normalisasi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011680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00200" y="2011680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2350008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00200" y="2350008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688336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00200" y="2688336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(Z-Score)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026664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Keterangan: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00200" y="3026664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Covertype: 54 fitur topografi; Poker: 500K baris sampled; Sensorless: 48 fitur sinyal motor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1618488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618488"/>
            <a:ext cx="41605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627632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Eksperimen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201168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Avg Time: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201168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 – 25 s (Sensorless → Covertype)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235000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Avg Time: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2350008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s – 5.5 s (GPU unggul signifikan)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2688336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Ratio: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72200" y="2688336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4.5× – 35× (GPU sangat unggul di semua dataset besar)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46320" y="302666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72200" y="3026664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Covertype: 0.0890 | Poker: ~0.15 | Sensorless: ~0.35 (DBI 1.4–2.0)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593592"/>
            <a:ext cx="8595360" cy="1325880"/>
          </a:xfrm>
          <a:prstGeom prst="roundRect">
            <a:avLst>
              <a:gd name="adj" fmla="val 6897"/>
            </a:avLst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6393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Uji Statistik — Independent Welch's t-Test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959352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977640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t-statistik:  +100.43 (Covertype) | semua positif besar → GPU jauh lebih cepat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880360" y="3959352"/>
            <a:ext cx="25603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0" y="3977640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 4.59e-15 (Covertype) | seluruh dataset p &lt;&lt; 0.05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77840" y="3913632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23560" y="3931920"/>
            <a:ext cx="3063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H₀ DITOLAK  (p &lt; 0.05)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BESAR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9144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Sangat Besar — HIGGS, SUSY &amp; Airline Delay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59536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Sampel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0241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1.000.000 (masing-masing)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50592" y="8229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859536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42032" y="10241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5–28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26864" y="8229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859536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18304" y="10241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03136" y="8229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D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94576" y="859536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Percobaan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94576" y="10241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4320" y="1618488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618488"/>
            <a:ext cx="4160520" cy="3291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627632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Preprocessing &amp; Normalisasi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011680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00200" y="2011680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2350008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00200" y="2350008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HIGGS: 2.296 dipertahankan; SUSY: 0; Airline: NaN di-drop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688336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00200" y="2688336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(Z-Score)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026664"/>
            <a:ext cx="1143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Keterangan: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00200" y="3026664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HIGGS &amp; SUSY: fisika partikel dari UCI (disimpan di Drive); Airline: 5 fitur delay penerbangan Kaggle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1618488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618488"/>
            <a:ext cx="41605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627632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Eksperimen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201168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Avg Time: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201168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 – 60 s (Airline → HIGGS)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235000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Avg Time: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2350008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s – 16 s (GPU dominan pada semua)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2688336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Ratio: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72200" y="2688336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3.6× – 50× (speedup tertinggi di seluruh eksperimen)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46320" y="302666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72200" y="3026664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HIGGS: 0.0382 | SUSY: ~0.10 | Airline: ~0.35 (DBI 1.5–2.9)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593592"/>
            <a:ext cx="8595360" cy="1325880"/>
          </a:xfrm>
          <a:prstGeom prst="roundRect">
            <a:avLst>
              <a:gd name="adj" fmla="val 6897"/>
            </a:avLst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6393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Uji Statistik — Independent Welch's t-Test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959352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977640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t-statistik:  +33.34 (HIGGS) | semua positif besar → GPU jauh lebih cepat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880360" y="3959352"/>
            <a:ext cx="25603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0" y="3977640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 9.67e-11 (HIGGS) | seluruh dataset p &lt;&lt; 0.05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77840" y="3913632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23560" y="3931920"/>
            <a:ext cx="3063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H₀ DITOLAK  (p &lt; 0.05)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Hasil &amp; Analisis Speedup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4173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5176" y="859536"/>
            <a:ext cx="1362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645920" y="841248"/>
            <a:ext cx="100584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82496" y="859536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651760" y="841248"/>
            <a:ext cx="100584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8336" y="859536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Avg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0" y="841248"/>
            <a:ext cx="100584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4176" y="859536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Avg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841248"/>
            <a:ext cx="91440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59536"/>
            <a:ext cx="859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77840" y="841248"/>
            <a:ext cx="11887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14416" y="859536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66560" y="841248"/>
            <a:ext cx="12801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859536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046720" y="841248"/>
            <a:ext cx="109728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83296" y="859536"/>
            <a:ext cx="1042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1188720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" y="1216152"/>
            <a:ext cx="1362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/ Seeds / Wine UCI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645920" y="1188720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82496" y="1216152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Kecil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51760" y="1188720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8336" y="1216152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14–20 ms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0" y="1188720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94176" y="1216152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ms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118872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1216152"/>
            <a:ext cx="859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0.40–0.50×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77840" y="118872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14416" y="1216152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0.46–0.57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766560" y="1188720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1216152"/>
            <a:ext cx="1225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 0.05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46720" y="1188720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1216152"/>
            <a:ext cx="1042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Tolak H₀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" y="1572768"/>
            <a:ext cx="14173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5176" y="1600200"/>
            <a:ext cx="1362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/ Adult / Dry Bean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645920" y="1572768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82496" y="1600200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651760" y="1572768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88336" y="1600200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ms – 2 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57600" y="1572768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94176" y="1600200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ms – 1.5 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1572768"/>
            <a:ext cx="9144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0016" y="1600200"/>
            <a:ext cx="859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0.64–1.3×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577840" y="1572768"/>
            <a:ext cx="1188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14416" y="1600200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0.23–0.44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766560" y="1572768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03136" y="1600200"/>
            <a:ext cx="1225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 0.05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046720" y="1572768"/>
            <a:ext cx="10972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83296" y="1600200"/>
            <a:ext cx="1042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Tolak H₀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28600" y="1956816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5176" y="1984248"/>
            <a:ext cx="1362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Covertype / Poker / Sensorless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645920" y="1956816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682496" y="1984248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Besar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651760" y="1956816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88336" y="1984248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 – 25 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657600" y="1956816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94176" y="1984248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s – 5.5 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663440" y="1956816"/>
            <a:ext cx="914400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00016" y="1984248"/>
            <a:ext cx="859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4.5–35×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577840" y="1956816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14416" y="1984248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0.09–0.35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766560" y="195681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03136" y="1984248"/>
            <a:ext cx="1225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 0.05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8046720" y="1956816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83296" y="1984248"/>
            <a:ext cx="1042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Tolak H₀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28600" y="2340864"/>
            <a:ext cx="14173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5176" y="2368296"/>
            <a:ext cx="1362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HIGGS / SUSY / Airline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645920" y="2340864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682496" y="2368296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Besar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651760" y="2340864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688336" y="2368296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 – 60 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657600" y="2340864"/>
            <a:ext cx="10058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94176" y="2368296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 – 16 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663440" y="2340864"/>
            <a:ext cx="9144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00016" y="2368296"/>
            <a:ext cx="8595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3.6–50×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5577840" y="2340864"/>
            <a:ext cx="1188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14416" y="2368296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0.04–0.35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766560" y="2340864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803136" y="2368296"/>
            <a:ext cx="12252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 0.05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8046720" y="2340864"/>
            <a:ext cx="10972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083296" y="2368296"/>
            <a:ext cx="1042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Tolak H₀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228600" y="28163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Ratio per Dataset</a:t>
            </a:r>
            <a:endParaRPr lang="en-US" sz="1300" dirty="0"/>
          </a:p>
        </p:txBody>
      </p:sp>
      <p:graphicFrame>
        <p:nvGraphicFramePr>
          <p:cNvPr id="85" name="Chart 0"/>
          <p:cNvGraphicFramePr/>
          <p:nvPr/>
        </p:nvGraphicFramePr>
        <p:xfrm>
          <a:off x="228600" y="3127248"/>
          <a:ext cx="50292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6" name="Shape 83"/>
          <p:cNvSpPr/>
          <p:nvPr/>
        </p:nvSpPr>
        <p:spPr>
          <a:xfrm>
            <a:off x="5394960" y="2816352"/>
            <a:ext cx="3520440" cy="2139696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7" name="Shape 84"/>
          <p:cNvSpPr/>
          <p:nvPr/>
        </p:nvSpPr>
        <p:spPr>
          <a:xfrm>
            <a:off x="5394960" y="2816352"/>
            <a:ext cx="35204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5532120" y="283464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Analisis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5532120" y="326440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5760720" y="32186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Kecil &amp; Sedang: CPU lebih cepat; overhead GPU (inisialisasi CUDA + transfer data) melebihi keuntungan paralel.</a:t>
            </a:r>
            <a:endParaRPr lang="en-US" sz="900" dirty="0"/>
          </a:p>
        </p:txBody>
      </p:sp>
      <p:sp>
        <p:nvSpPr>
          <p:cNvPr id="91" name="Shape 88"/>
          <p:cNvSpPr/>
          <p:nvPr/>
        </p:nvSpPr>
        <p:spPr>
          <a:xfrm>
            <a:off x="5532120" y="365760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760720" y="36118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Besar (Covertype 581K, Poker 500K, Sensorless 58K): GPU unggul 4.5×–35×; paralelisme CUDA mulai dominan.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5532120" y="40507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5760720" y="400507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Sangat Besar (HIGGS, SUSY, Airline — 1 juta baris): GPU dominan 3.6×–50×; makin banyak data makin besar keunggulan GPU.</a:t>
            </a:r>
            <a:endParaRPr lang="en-US" sz="900" dirty="0"/>
          </a:p>
        </p:txBody>
      </p:sp>
      <p:sp>
        <p:nvSpPr>
          <p:cNvPr id="95" name="Shape 92"/>
          <p:cNvSpPr/>
          <p:nvPr/>
        </p:nvSpPr>
        <p:spPr>
          <a:xfrm>
            <a:off x="5532120" y="444398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5760720" y="439826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12 dataset: p-value &lt;&lt; 0.05 → H₀ DITOLAK; perbedaan signifikan secara statistik di seluruh skenario.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Uji Statistik — Independent Welch's t-Test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0F9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503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 Independent Welch's t-Test: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 =  ( x̄₁ − x̄₂ )  /  √( s₁²/n₁ + s₂²/n₂ 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89611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x̄₁ = rata-rata CPU  |  x̄₂ = rata-rata GPU  |  s² = varians  |  n = jumlah sampel (10)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4160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Kriteria Keputusan: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10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 →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Tolak H₀  (perbedaan SIGNIFIKAN)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31720"/>
            <a:ext cx="201168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500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Kecil: Iris (representatif)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770632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7280" y="27706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−5.600 (negatif: GPU lebih lambat)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3154680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97280" y="31546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2.26e-4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3538728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97280" y="353872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" y="3922776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97280" y="392277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 (n₁=n₂=10)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048" y="4306824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97280" y="430682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Tolak H₀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32304" y="2331720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32304" y="2331720"/>
            <a:ext cx="201168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3500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Sedang: Wine Quality (representatif)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42032" y="2770632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55264" y="27706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−5.527 (negatif: GPU masih lebih lambat)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42032" y="3154680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55264" y="31546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3.12e-4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42032" y="3538728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55264" y="353872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542032" y="3922776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55264" y="392277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 (n₁=n₂=10)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42032" y="4306824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55264" y="430682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Tolak H₀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90288" y="2331720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90288" y="2331720"/>
            <a:ext cx="201168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23500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Besar: Covertype (representatif)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00016" y="2770632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13248" y="27706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+100.431 (positif besar: GPU jauh lebih cepat)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00016" y="3154680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13248" y="31546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4.59e-15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00016" y="3538728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α: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413248" y="353872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00016" y="3922776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413248" y="392277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 (n₁=n₂=10)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00016" y="4306824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Keputusan: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413248" y="430682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Tolak H₀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748272" y="2331720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748272" y="2331720"/>
            <a:ext cx="201168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39712" y="23500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Besar: HIGGS (representatif)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58000" y="2770632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t-stat: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571232" y="27706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+33.342 (positif: GPU dominan pada jutaan baris)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858000" y="3154680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31546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9.67e-11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858000" y="3538728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α: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571232" y="353872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858000" y="3922776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df: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392277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 (n₁=n₂=10)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858000" y="4306824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Keputusan: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571232" y="430682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Tolak H₀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74320" y="4846320"/>
            <a:ext cx="8595360" cy="18288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4855464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Semua 12 dataset: p-value &lt;&lt; α=0.05  →  H₀ DITOLAK  →  Perbedaan performa CPU vs GPU SIGNIFIKAN secara statistik di seluruh kategori ukuran data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&amp; Rekomendasi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2976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0607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Kecil &amp; Sedang: CPU Lebih Efisien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dataset kecil–sedang (Iris 0.40×, Seeds ~0.45×, Wine UCI ~0.50×; Wine Quality 0.64×, Adult ~1.1×, Dry Bean ~1.3×): overhead GPU melebihi manfaat paralel pada data berukuran kecil.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889504"/>
            <a:ext cx="42976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72384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05409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Besar: GPU Mulai Unggul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547872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dataset besar–sangat besar: Covertype 4.5×, Poker Hand ~10×, Sensorless ~35×; HIGGS 3.6×, SUSY ~15×, Airline ~50×. Speedup terus meningkat seiring ukuran data bertambah.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896112"/>
            <a:ext cx="42976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07899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32120" y="10607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Perbedaan Signifikan Secara Statistik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155448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12 uji t-Test: p-value &lt;&lt; α=0.05, H₀ DITOLAK. Kualitas clustering (Silhouette Score) konsisten antara CPU dan GPU — akselerasi GPU tidak mengorbankan akurasi.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889504"/>
            <a:ext cx="42976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3072384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305409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Penggunaan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3547872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GPU (cuML) untuk dataset &gt; 100.000 sampel. Untuk dataset kecil–sedang (&lt; 50K baris), CPU (sklearn) lebih efisien tanpa overhead CUDA. GPU warm-up wajib dilakukan sebelum pengukuran.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773168"/>
            <a:ext cx="8595360" cy="27432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79145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Kecil: 0.40–0.50×  |  Sedang: 0.64–1.3×  |  Besar: 4.5–35×  |  Sangat Besar: 3.6–50×   ·   12 dataset, semua p-value &lt;&lt; 0.05  →  H₀ Ditolak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A0645-6695-4C07-C6FB-BE527D004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521D80-651F-7C6F-14DB-27BC6F400549}"/>
              </a:ext>
            </a:extLst>
          </p:cNvPr>
          <p:cNvSpPr/>
          <p:nvPr/>
        </p:nvSpPr>
        <p:spPr>
          <a:xfrm>
            <a:off x="0" y="-36576"/>
            <a:ext cx="91440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16F721-0282-A7F1-1BDE-A6EEC2988C74}"/>
              </a:ext>
            </a:extLst>
          </p:cNvPr>
          <p:cNvSpPr/>
          <p:nvPr/>
        </p:nvSpPr>
        <p:spPr>
          <a:xfrm>
            <a:off x="45720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Ketika Di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Iris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9C1D85C-60E6-1315-34D9-4E3ED7964DAC}"/>
              </a:ext>
            </a:extLst>
          </p:cNvPr>
          <p:cNvSpPr/>
          <p:nvPr/>
        </p:nvSpPr>
        <p:spPr>
          <a:xfrm>
            <a:off x="45720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DF75D0B-57E9-28DE-EA3B-B00749B184A0}"/>
              </a:ext>
            </a:extLst>
          </p:cNvPr>
          <p:cNvSpPr/>
          <p:nvPr/>
        </p:nvSpPr>
        <p:spPr>
          <a:xfrm>
            <a:off x="1051560" y="10241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C052404-E2D4-9D9F-C68F-A8CA7393EAAA}"/>
              </a:ext>
            </a:extLst>
          </p:cNvPr>
          <p:cNvSpPr/>
          <p:nvPr/>
        </p:nvSpPr>
        <p:spPr>
          <a:xfrm>
            <a:off x="457200" y="1517904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7C19349-E6EC-E26A-69B2-C853581416FE}"/>
              </a:ext>
            </a:extLst>
          </p:cNvPr>
          <p:cNvSpPr/>
          <p:nvPr/>
        </p:nvSpPr>
        <p:spPr>
          <a:xfrm>
            <a:off x="45720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8BC849C-FE13-C507-D8CB-23BAD0CBEF0A}"/>
              </a:ext>
            </a:extLst>
          </p:cNvPr>
          <p:cNvSpPr/>
          <p:nvPr/>
        </p:nvSpPr>
        <p:spPr>
          <a:xfrm>
            <a:off x="45720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1EEF925-C476-D11E-2D99-4DC8F5204863}"/>
              </a:ext>
            </a:extLst>
          </p:cNvPr>
          <p:cNvSpPr/>
          <p:nvPr/>
        </p:nvSpPr>
        <p:spPr>
          <a:xfrm>
            <a:off x="493776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CEDFE0D-0417-1790-DC59-78643BD25797}"/>
              </a:ext>
            </a:extLst>
          </p:cNvPr>
          <p:cNvSpPr/>
          <p:nvPr/>
        </p:nvSpPr>
        <p:spPr>
          <a:xfrm>
            <a:off x="5539208" y="10383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3B4705E-651F-F900-FE53-A3FBC88BAF2B}"/>
              </a:ext>
            </a:extLst>
          </p:cNvPr>
          <p:cNvSpPr/>
          <p:nvPr/>
        </p:nvSpPr>
        <p:spPr>
          <a:xfrm>
            <a:off x="49377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01B35BB-C107-9C6C-5963-F13EE066628A}"/>
              </a:ext>
            </a:extLst>
          </p:cNvPr>
          <p:cNvSpPr/>
          <p:nvPr/>
        </p:nvSpPr>
        <p:spPr>
          <a:xfrm>
            <a:off x="553212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26124CA-00E3-6F53-8133-173DD087BB4D}"/>
              </a:ext>
            </a:extLst>
          </p:cNvPr>
          <p:cNvSpPr/>
          <p:nvPr/>
        </p:nvSpPr>
        <p:spPr>
          <a:xfrm>
            <a:off x="493776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A1D7D0E-BFF3-1FE3-5BD8-725B3C54A6C0}"/>
              </a:ext>
            </a:extLst>
          </p:cNvPr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7E9949C-0941-6CE4-F8CF-C1DCC661A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26" y="831263"/>
            <a:ext cx="4152543" cy="221808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A852E15-2CC7-3A19-EE1D-9544C7C75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33" y="3149131"/>
            <a:ext cx="4071462" cy="177589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AC19DFF-E3CE-13DE-84B5-FC305DFD1C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2633" y="1912227"/>
            <a:ext cx="4565059" cy="150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40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C53AC9-156F-FCBE-2FA2-2BD8774EB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1D742C-6A40-CABA-8F43-CE82215D85A7}"/>
              </a:ext>
            </a:extLst>
          </p:cNvPr>
          <p:cNvSpPr/>
          <p:nvPr/>
        </p:nvSpPr>
        <p:spPr>
          <a:xfrm>
            <a:off x="0" y="-36576"/>
            <a:ext cx="91440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997A6D-A623-C12F-267D-410BF4AAC88A}"/>
              </a:ext>
            </a:extLst>
          </p:cNvPr>
          <p:cNvSpPr/>
          <p:nvPr/>
        </p:nvSpPr>
        <p:spPr>
          <a:xfrm>
            <a:off x="45720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Ketika Di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Seeds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40AAD92-5E89-7C8F-AE7A-8C465C3C7C8C}"/>
              </a:ext>
            </a:extLst>
          </p:cNvPr>
          <p:cNvSpPr/>
          <p:nvPr/>
        </p:nvSpPr>
        <p:spPr>
          <a:xfrm>
            <a:off x="45720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F345746-3A6B-C589-1869-130954053EE6}"/>
              </a:ext>
            </a:extLst>
          </p:cNvPr>
          <p:cNvSpPr/>
          <p:nvPr/>
        </p:nvSpPr>
        <p:spPr>
          <a:xfrm>
            <a:off x="1051560" y="10241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675C1CD-A626-F053-7A3A-B18FB9321F84}"/>
              </a:ext>
            </a:extLst>
          </p:cNvPr>
          <p:cNvSpPr/>
          <p:nvPr/>
        </p:nvSpPr>
        <p:spPr>
          <a:xfrm>
            <a:off x="457200" y="1517904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EC0C332-DEF6-233F-2D0C-38FA3E8FEC0B}"/>
              </a:ext>
            </a:extLst>
          </p:cNvPr>
          <p:cNvSpPr/>
          <p:nvPr/>
        </p:nvSpPr>
        <p:spPr>
          <a:xfrm>
            <a:off x="45720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6E46BC6-7519-4816-BA76-82A7F5B50647}"/>
              </a:ext>
            </a:extLst>
          </p:cNvPr>
          <p:cNvSpPr/>
          <p:nvPr/>
        </p:nvSpPr>
        <p:spPr>
          <a:xfrm>
            <a:off x="45720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91CECD1-F22E-406D-88E7-9263E6961BE5}"/>
              </a:ext>
            </a:extLst>
          </p:cNvPr>
          <p:cNvSpPr/>
          <p:nvPr/>
        </p:nvSpPr>
        <p:spPr>
          <a:xfrm>
            <a:off x="493776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99433B6-91FE-8AAD-B566-5FAA577477E0}"/>
              </a:ext>
            </a:extLst>
          </p:cNvPr>
          <p:cNvSpPr/>
          <p:nvPr/>
        </p:nvSpPr>
        <p:spPr>
          <a:xfrm>
            <a:off x="5539208" y="10383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E3DF441-C4B2-667A-A43E-03DA7C10C3C0}"/>
              </a:ext>
            </a:extLst>
          </p:cNvPr>
          <p:cNvSpPr/>
          <p:nvPr/>
        </p:nvSpPr>
        <p:spPr>
          <a:xfrm>
            <a:off x="49377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F62EC22-57E6-5176-C7C7-A465FE95C988}"/>
              </a:ext>
            </a:extLst>
          </p:cNvPr>
          <p:cNvSpPr/>
          <p:nvPr/>
        </p:nvSpPr>
        <p:spPr>
          <a:xfrm>
            <a:off x="553212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FC534B2-93D8-97DB-EC6F-AE719C542717}"/>
              </a:ext>
            </a:extLst>
          </p:cNvPr>
          <p:cNvSpPr/>
          <p:nvPr/>
        </p:nvSpPr>
        <p:spPr>
          <a:xfrm>
            <a:off x="493776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6311953-CEE5-F08E-3FE1-2A29B7A02B4B}"/>
              </a:ext>
            </a:extLst>
          </p:cNvPr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068D8D-14C1-4346-D085-1E371C6D9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52731"/>
            <a:ext cx="3766543" cy="24207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B4B09B-0647-B68B-C6CF-7CCEE1845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72" y="3433789"/>
            <a:ext cx="4041768" cy="15406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5F70C7-96FC-2078-CC2B-335CEB82F3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8426" y="1691640"/>
            <a:ext cx="5005573" cy="165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05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4D9F73-27B4-8048-F4E3-75B49A067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DE0D13-B210-BDEE-6B3A-C419513CE472}"/>
              </a:ext>
            </a:extLst>
          </p:cNvPr>
          <p:cNvSpPr/>
          <p:nvPr/>
        </p:nvSpPr>
        <p:spPr>
          <a:xfrm>
            <a:off x="7088" y="-36576"/>
            <a:ext cx="91440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DBAFD7-323B-A84D-B12A-9EFE08BF50E6}"/>
              </a:ext>
            </a:extLst>
          </p:cNvPr>
          <p:cNvSpPr/>
          <p:nvPr/>
        </p:nvSpPr>
        <p:spPr>
          <a:xfrm>
            <a:off x="45720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Ketika Di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Wine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63E2725-5109-EC98-4DA4-0D7748683958}"/>
              </a:ext>
            </a:extLst>
          </p:cNvPr>
          <p:cNvSpPr/>
          <p:nvPr/>
        </p:nvSpPr>
        <p:spPr>
          <a:xfrm>
            <a:off x="45720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6E19411-DBD6-2377-CEFB-F7BB61F1CB48}"/>
              </a:ext>
            </a:extLst>
          </p:cNvPr>
          <p:cNvSpPr/>
          <p:nvPr/>
        </p:nvSpPr>
        <p:spPr>
          <a:xfrm>
            <a:off x="1051560" y="10241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1FD9AA6-7B09-C2A9-76BE-F84F213720F5}"/>
              </a:ext>
            </a:extLst>
          </p:cNvPr>
          <p:cNvSpPr/>
          <p:nvPr/>
        </p:nvSpPr>
        <p:spPr>
          <a:xfrm>
            <a:off x="457200" y="1517904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4BC5999-2E86-E7B9-C8F8-8BEBDA71A4A1}"/>
              </a:ext>
            </a:extLst>
          </p:cNvPr>
          <p:cNvSpPr/>
          <p:nvPr/>
        </p:nvSpPr>
        <p:spPr>
          <a:xfrm>
            <a:off x="45720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BA6ED8F-8DA5-3446-8A7D-16DB0D619658}"/>
              </a:ext>
            </a:extLst>
          </p:cNvPr>
          <p:cNvSpPr/>
          <p:nvPr/>
        </p:nvSpPr>
        <p:spPr>
          <a:xfrm>
            <a:off x="45720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F800EA8-C5A5-5594-088E-7711B8FF0F0F}"/>
              </a:ext>
            </a:extLst>
          </p:cNvPr>
          <p:cNvSpPr/>
          <p:nvPr/>
        </p:nvSpPr>
        <p:spPr>
          <a:xfrm>
            <a:off x="493776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A9E91F3-7684-7F6E-6F8B-DCEE12C9BB8B}"/>
              </a:ext>
            </a:extLst>
          </p:cNvPr>
          <p:cNvSpPr/>
          <p:nvPr/>
        </p:nvSpPr>
        <p:spPr>
          <a:xfrm>
            <a:off x="5539208" y="10383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C47B54B-4B25-15A2-4C14-8961D8D18D01}"/>
              </a:ext>
            </a:extLst>
          </p:cNvPr>
          <p:cNvSpPr/>
          <p:nvPr/>
        </p:nvSpPr>
        <p:spPr>
          <a:xfrm>
            <a:off x="49377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E876DC1-9B4C-2BC0-9361-B3BF626956E0}"/>
              </a:ext>
            </a:extLst>
          </p:cNvPr>
          <p:cNvSpPr/>
          <p:nvPr/>
        </p:nvSpPr>
        <p:spPr>
          <a:xfrm>
            <a:off x="553212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45F4A2F-735C-1F41-0F78-5C6D15D1C751}"/>
              </a:ext>
            </a:extLst>
          </p:cNvPr>
          <p:cNvSpPr/>
          <p:nvPr/>
        </p:nvSpPr>
        <p:spPr>
          <a:xfrm>
            <a:off x="493776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AA6FB44-05B3-19AF-37BC-EE4F90426CE2}"/>
              </a:ext>
            </a:extLst>
          </p:cNvPr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CF796C-4D26-5FA6-6774-15AB747A4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52" y="886968"/>
            <a:ext cx="4067536" cy="24323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EFC5DF-980B-7FD3-6614-387C80100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203" y="3474720"/>
            <a:ext cx="4565397" cy="15803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F0DE92F-3CAC-9918-3077-CAB6082BF9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725631"/>
            <a:ext cx="4501115" cy="148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017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C5169-F595-AF40-D76C-B2798996E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55873E-8ABC-A434-5C94-C83EEF59F0DF}"/>
              </a:ext>
            </a:extLst>
          </p:cNvPr>
          <p:cNvSpPr/>
          <p:nvPr/>
        </p:nvSpPr>
        <p:spPr>
          <a:xfrm>
            <a:off x="0" y="-36576"/>
            <a:ext cx="91440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FCCDD7-33E9-A4BD-C6D7-6E491149E479}"/>
              </a:ext>
            </a:extLst>
          </p:cNvPr>
          <p:cNvSpPr/>
          <p:nvPr/>
        </p:nvSpPr>
        <p:spPr>
          <a:xfrm>
            <a:off x="45720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Ketika Di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Wine Quality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C10573B-167E-EB3A-D11F-2E7710A6C76F}"/>
              </a:ext>
            </a:extLst>
          </p:cNvPr>
          <p:cNvSpPr/>
          <p:nvPr/>
        </p:nvSpPr>
        <p:spPr>
          <a:xfrm>
            <a:off x="45720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A968485-6A26-AFC0-C0CE-BD913BE20669}"/>
              </a:ext>
            </a:extLst>
          </p:cNvPr>
          <p:cNvSpPr/>
          <p:nvPr/>
        </p:nvSpPr>
        <p:spPr>
          <a:xfrm>
            <a:off x="1051560" y="10241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CE88F03-85E7-EDB5-DA4E-7AE19BF8B113}"/>
              </a:ext>
            </a:extLst>
          </p:cNvPr>
          <p:cNvSpPr/>
          <p:nvPr/>
        </p:nvSpPr>
        <p:spPr>
          <a:xfrm>
            <a:off x="457200" y="1517904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BA777E3-C4C2-9CC1-2CE3-B9BBDA7822B8}"/>
              </a:ext>
            </a:extLst>
          </p:cNvPr>
          <p:cNvSpPr/>
          <p:nvPr/>
        </p:nvSpPr>
        <p:spPr>
          <a:xfrm>
            <a:off x="45720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07BE789-B82D-82DA-0515-2E89C0BDE7FC}"/>
              </a:ext>
            </a:extLst>
          </p:cNvPr>
          <p:cNvSpPr/>
          <p:nvPr/>
        </p:nvSpPr>
        <p:spPr>
          <a:xfrm>
            <a:off x="45720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7BF5258-0EE2-E486-CF7F-6FB06C430D8C}"/>
              </a:ext>
            </a:extLst>
          </p:cNvPr>
          <p:cNvSpPr/>
          <p:nvPr/>
        </p:nvSpPr>
        <p:spPr>
          <a:xfrm>
            <a:off x="493776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F48A38F-C5FC-1C56-558D-C92AE761096D}"/>
              </a:ext>
            </a:extLst>
          </p:cNvPr>
          <p:cNvSpPr/>
          <p:nvPr/>
        </p:nvSpPr>
        <p:spPr>
          <a:xfrm>
            <a:off x="5539208" y="10383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E42263F-C2BF-D8C3-3181-BED1644F3B32}"/>
              </a:ext>
            </a:extLst>
          </p:cNvPr>
          <p:cNvSpPr/>
          <p:nvPr/>
        </p:nvSpPr>
        <p:spPr>
          <a:xfrm>
            <a:off x="49377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A7109ED-3077-58E9-BF27-6777254C5247}"/>
              </a:ext>
            </a:extLst>
          </p:cNvPr>
          <p:cNvSpPr/>
          <p:nvPr/>
        </p:nvSpPr>
        <p:spPr>
          <a:xfrm>
            <a:off x="553212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E9C4FA6-21E6-E144-8ECC-78AA1D1235F8}"/>
              </a:ext>
            </a:extLst>
          </p:cNvPr>
          <p:cNvSpPr/>
          <p:nvPr/>
        </p:nvSpPr>
        <p:spPr>
          <a:xfrm>
            <a:off x="493776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5612BE7-82F1-BF14-F255-B7333CCFBC70}"/>
              </a:ext>
            </a:extLst>
          </p:cNvPr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DA8527-FFA4-9C84-F184-C30EFD4C0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99851"/>
            <a:ext cx="3589855" cy="24194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AAB449-57DC-685B-E2BD-715684B1D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82" y="3429000"/>
            <a:ext cx="4358286" cy="16054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A240378-AB96-3B50-C2E5-6A71D0040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7003" y="1578732"/>
            <a:ext cx="4937759" cy="160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21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1ED87-B30E-9E31-77A4-5AD955C35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20523A-ED8E-0C73-123F-318660974536}"/>
              </a:ext>
            </a:extLst>
          </p:cNvPr>
          <p:cNvSpPr/>
          <p:nvPr/>
        </p:nvSpPr>
        <p:spPr>
          <a:xfrm>
            <a:off x="0" y="-36576"/>
            <a:ext cx="91440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86360A-480A-444C-C1BA-BBC478B29752}"/>
              </a:ext>
            </a:extLst>
          </p:cNvPr>
          <p:cNvSpPr/>
          <p:nvPr/>
        </p:nvSpPr>
        <p:spPr>
          <a:xfrm>
            <a:off x="45720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Ketika Di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Adult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D8B5BEC-182E-441C-8BCA-2CDBBDA8604D}"/>
              </a:ext>
            </a:extLst>
          </p:cNvPr>
          <p:cNvSpPr/>
          <p:nvPr/>
        </p:nvSpPr>
        <p:spPr>
          <a:xfrm>
            <a:off x="45720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796E1A7-62C4-A4E6-1BCA-3AA1AC1F5961}"/>
              </a:ext>
            </a:extLst>
          </p:cNvPr>
          <p:cNvSpPr/>
          <p:nvPr/>
        </p:nvSpPr>
        <p:spPr>
          <a:xfrm>
            <a:off x="1051560" y="10241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71530D0-4C37-98E2-D9E7-7AFFC63B7A01}"/>
              </a:ext>
            </a:extLst>
          </p:cNvPr>
          <p:cNvSpPr/>
          <p:nvPr/>
        </p:nvSpPr>
        <p:spPr>
          <a:xfrm>
            <a:off x="457200" y="1517904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647D074-1910-2BE3-C23F-F5A2E04575A8}"/>
              </a:ext>
            </a:extLst>
          </p:cNvPr>
          <p:cNvSpPr/>
          <p:nvPr/>
        </p:nvSpPr>
        <p:spPr>
          <a:xfrm>
            <a:off x="45720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7962B12-D62C-62DA-2315-135092447FAA}"/>
              </a:ext>
            </a:extLst>
          </p:cNvPr>
          <p:cNvSpPr/>
          <p:nvPr/>
        </p:nvSpPr>
        <p:spPr>
          <a:xfrm>
            <a:off x="45720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DFA1E94-8F5D-58BD-B476-2AF01F5F0474}"/>
              </a:ext>
            </a:extLst>
          </p:cNvPr>
          <p:cNvSpPr/>
          <p:nvPr/>
        </p:nvSpPr>
        <p:spPr>
          <a:xfrm>
            <a:off x="493776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8705A2F-7AFE-D66C-B124-C9E95BA0EF61}"/>
              </a:ext>
            </a:extLst>
          </p:cNvPr>
          <p:cNvSpPr/>
          <p:nvPr/>
        </p:nvSpPr>
        <p:spPr>
          <a:xfrm>
            <a:off x="5539208" y="10383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3ECD30C-5A83-2240-181C-5959F0C44E27}"/>
              </a:ext>
            </a:extLst>
          </p:cNvPr>
          <p:cNvSpPr/>
          <p:nvPr/>
        </p:nvSpPr>
        <p:spPr>
          <a:xfrm>
            <a:off x="49377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7514C7E-1045-6B4F-FE6F-CA9906089178}"/>
              </a:ext>
            </a:extLst>
          </p:cNvPr>
          <p:cNvSpPr/>
          <p:nvPr/>
        </p:nvSpPr>
        <p:spPr>
          <a:xfrm>
            <a:off x="553212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79CEF1B-3EA1-20EB-323A-A23B4830C71B}"/>
              </a:ext>
            </a:extLst>
          </p:cNvPr>
          <p:cNvSpPr/>
          <p:nvPr/>
        </p:nvSpPr>
        <p:spPr>
          <a:xfrm>
            <a:off x="493776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80B7EF7-EC2B-CDB5-AD57-43C2DFFB3166}"/>
              </a:ext>
            </a:extLst>
          </p:cNvPr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844DC8-B330-4B12-DD84-F4C645F7F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1" y="850924"/>
            <a:ext cx="3539484" cy="23317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6E8471-735A-20F5-9F8A-CF53DF036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76" y="3264408"/>
            <a:ext cx="4815248" cy="17734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60E659-9E80-4BE5-6B42-52DB6D7392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5402" y="1455655"/>
            <a:ext cx="5152034" cy="168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442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031B1F-6EB9-A8C3-C77A-711178167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C8A392-A651-F675-DFD5-2D95F2075F38}"/>
              </a:ext>
            </a:extLst>
          </p:cNvPr>
          <p:cNvSpPr/>
          <p:nvPr/>
        </p:nvSpPr>
        <p:spPr>
          <a:xfrm>
            <a:off x="0" y="-36576"/>
            <a:ext cx="91440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C0E161-7D56-4739-7BB0-3AFE0211AB3F}"/>
              </a:ext>
            </a:extLst>
          </p:cNvPr>
          <p:cNvSpPr/>
          <p:nvPr/>
        </p:nvSpPr>
        <p:spPr>
          <a:xfrm>
            <a:off x="45720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Ketika Di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Dry Bean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02294D2-BC3D-A635-42FE-37E0CDD97C05}"/>
              </a:ext>
            </a:extLst>
          </p:cNvPr>
          <p:cNvSpPr/>
          <p:nvPr/>
        </p:nvSpPr>
        <p:spPr>
          <a:xfrm>
            <a:off x="45720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0F4FED2-C23D-CE2F-8315-1F461F5820A7}"/>
              </a:ext>
            </a:extLst>
          </p:cNvPr>
          <p:cNvSpPr/>
          <p:nvPr/>
        </p:nvSpPr>
        <p:spPr>
          <a:xfrm>
            <a:off x="1051560" y="10241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EB37171-ADB0-78BE-DA20-2D5C4A405204}"/>
              </a:ext>
            </a:extLst>
          </p:cNvPr>
          <p:cNvSpPr/>
          <p:nvPr/>
        </p:nvSpPr>
        <p:spPr>
          <a:xfrm>
            <a:off x="457200" y="1517904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75BF641-4CCD-E9C3-5B74-E0F7ABF6B082}"/>
              </a:ext>
            </a:extLst>
          </p:cNvPr>
          <p:cNvSpPr/>
          <p:nvPr/>
        </p:nvSpPr>
        <p:spPr>
          <a:xfrm>
            <a:off x="45720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5CF9639-08B9-2963-C2C0-59BA1A966046}"/>
              </a:ext>
            </a:extLst>
          </p:cNvPr>
          <p:cNvSpPr/>
          <p:nvPr/>
        </p:nvSpPr>
        <p:spPr>
          <a:xfrm>
            <a:off x="45720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C45007A-EFE0-364E-C9E8-EF9E74F8560D}"/>
              </a:ext>
            </a:extLst>
          </p:cNvPr>
          <p:cNvSpPr/>
          <p:nvPr/>
        </p:nvSpPr>
        <p:spPr>
          <a:xfrm>
            <a:off x="493776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E4DA854-23A7-C8E1-58D9-72543A2E0AEF}"/>
              </a:ext>
            </a:extLst>
          </p:cNvPr>
          <p:cNvSpPr/>
          <p:nvPr/>
        </p:nvSpPr>
        <p:spPr>
          <a:xfrm>
            <a:off x="5539208" y="10383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9911573-6FC6-4613-4ED6-3C36E6F93494}"/>
              </a:ext>
            </a:extLst>
          </p:cNvPr>
          <p:cNvSpPr/>
          <p:nvPr/>
        </p:nvSpPr>
        <p:spPr>
          <a:xfrm>
            <a:off x="49377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5EF57B5-7218-C391-96B4-B5E18FAE3F3A}"/>
              </a:ext>
            </a:extLst>
          </p:cNvPr>
          <p:cNvSpPr/>
          <p:nvPr/>
        </p:nvSpPr>
        <p:spPr>
          <a:xfrm>
            <a:off x="553212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F461514-671C-CF22-9C2E-1BAAAAF8CDC6}"/>
              </a:ext>
            </a:extLst>
          </p:cNvPr>
          <p:cNvSpPr/>
          <p:nvPr/>
        </p:nvSpPr>
        <p:spPr>
          <a:xfrm>
            <a:off x="493776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AC728BC-4644-266D-DD2C-83B41C0392B6}"/>
              </a:ext>
            </a:extLst>
          </p:cNvPr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25F1E4-89E7-7D8E-421D-01D65A725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08" y="886968"/>
            <a:ext cx="3881468" cy="25670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38F241-2A4C-F3BC-338C-DC105FEDE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" y="3493008"/>
            <a:ext cx="4366260" cy="15917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ABB4D2-92CF-33D9-188C-7254BF2CE9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1792915"/>
            <a:ext cx="4687941" cy="153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879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939A5-990B-852C-1DDC-0A4B119A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438BBD-A8DD-5751-E58D-5D50D4D5D2B7}"/>
              </a:ext>
            </a:extLst>
          </p:cNvPr>
          <p:cNvSpPr/>
          <p:nvPr/>
        </p:nvSpPr>
        <p:spPr>
          <a:xfrm>
            <a:off x="0" y="-36576"/>
            <a:ext cx="91440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0B6D29-6B3E-A28F-C5C3-2FE3A335741F}"/>
              </a:ext>
            </a:extLst>
          </p:cNvPr>
          <p:cNvSpPr/>
          <p:nvPr/>
        </p:nvSpPr>
        <p:spPr>
          <a:xfrm>
            <a:off x="45720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Ketika Di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Covertype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2EF7186-E777-632E-C27A-2FB3C2A234ED}"/>
              </a:ext>
            </a:extLst>
          </p:cNvPr>
          <p:cNvSpPr/>
          <p:nvPr/>
        </p:nvSpPr>
        <p:spPr>
          <a:xfrm>
            <a:off x="45720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D167936-CAAC-143B-280C-770154EADF13}"/>
              </a:ext>
            </a:extLst>
          </p:cNvPr>
          <p:cNvSpPr/>
          <p:nvPr/>
        </p:nvSpPr>
        <p:spPr>
          <a:xfrm>
            <a:off x="1051560" y="10241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3659BDA-CFD6-4B02-F96E-0F02F1AE48CE}"/>
              </a:ext>
            </a:extLst>
          </p:cNvPr>
          <p:cNvSpPr/>
          <p:nvPr/>
        </p:nvSpPr>
        <p:spPr>
          <a:xfrm>
            <a:off x="457200" y="1517904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3757AA9-CD0D-8DDE-82BD-EFCA76C60E9C}"/>
              </a:ext>
            </a:extLst>
          </p:cNvPr>
          <p:cNvSpPr/>
          <p:nvPr/>
        </p:nvSpPr>
        <p:spPr>
          <a:xfrm>
            <a:off x="45720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0A29459-FBD3-10B0-CB9B-81718F4335F2}"/>
              </a:ext>
            </a:extLst>
          </p:cNvPr>
          <p:cNvSpPr/>
          <p:nvPr/>
        </p:nvSpPr>
        <p:spPr>
          <a:xfrm>
            <a:off x="493776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F8BBEB8-F2DF-371C-72D9-AAEC89EE2270}"/>
              </a:ext>
            </a:extLst>
          </p:cNvPr>
          <p:cNvSpPr/>
          <p:nvPr/>
        </p:nvSpPr>
        <p:spPr>
          <a:xfrm>
            <a:off x="5539208" y="10383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52ECD17-1330-9FC2-3099-DD4B1299D25E}"/>
              </a:ext>
            </a:extLst>
          </p:cNvPr>
          <p:cNvSpPr/>
          <p:nvPr/>
        </p:nvSpPr>
        <p:spPr>
          <a:xfrm>
            <a:off x="49377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9736A1A-B5F7-709F-6173-FA30F334E0A7}"/>
              </a:ext>
            </a:extLst>
          </p:cNvPr>
          <p:cNvSpPr/>
          <p:nvPr/>
        </p:nvSpPr>
        <p:spPr>
          <a:xfrm>
            <a:off x="493776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97AAE40-36E7-D46D-FA84-3A9A29C6C473}"/>
              </a:ext>
            </a:extLst>
          </p:cNvPr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D1B96D-022B-7C3D-CD29-8CBF526CC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70" y="835012"/>
            <a:ext cx="3805570" cy="27054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900623-F766-D5F3-BAE7-834FDD0B3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70" y="3655685"/>
            <a:ext cx="3805570" cy="14512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9A73A4-035F-9BB4-BB89-2B81E38EA7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8991" y="2202932"/>
            <a:ext cx="4655009" cy="151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391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22BB56-2845-413C-CF11-D10FAF550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8C16F0-F1EA-E238-E526-3F0649C01234}"/>
              </a:ext>
            </a:extLst>
          </p:cNvPr>
          <p:cNvSpPr/>
          <p:nvPr/>
        </p:nvSpPr>
        <p:spPr>
          <a:xfrm>
            <a:off x="0" y="-36576"/>
            <a:ext cx="91440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19406E1-A271-D530-FF69-F10F9FFD8CC6}"/>
              </a:ext>
            </a:extLst>
          </p:cNvPr>
          <p:cNvSpPr/>
          <p:nvPr/>
        </p:nvSpPr>
        <p:spPr>
          <a:xfrm>
            <a:off x="45720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Ketika Di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Poker Hand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7198CE3-FF24-0AFC-5392-3738BF10467D}"/>
              </a:ext>
            </a:extLst>
          </p:cNvPr>
          <p:cNvSpPr/>
          <p:nvPr/>
        </p:nvSpPr>
        <p:spPr>
          <a:xfrm>
            <a:off x="45720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DE0FF72-AE67-841A-A5EC-4AFA1CB8C107}"/>
              </a:ext>
            </a:extLst>
          </p:cNvPr>
          <p:cNvSpPr/>
          <p:nvPr/>
        </p:nvSpPr>
        <p:spPr>
          <a:xfrm>
            <a:off x="1051560" y="10241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2813780-AE0C-4BA1-3303-BC0D97182703}"/>
              </a:ext>
            </a:extLst>
          </p:cNvPr>
          <p:cNvSpPr/>
          <p:nvPr/>
        </p:nvSpPr>
        <p:spPr>
          <a:xfrm>
            <a:off x="457200" y="1517904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0F771AA-5F21-AFF6-8E2A-5A1CCEE23793}"/>
              </a:ext>
            </a:extLst>
          </p:cNvPr>
          <p:cNvSpPr/>
          <p:nvPr/>
        </p:nvSpPr>
        <p:spPr>
          <a:xfrm>
            <a:off x="45720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968929A-6CF9-09FE-7969-D30BE90CBDCF}"/>
              </a:ext>
            </a:extLst>
          </p:cNvPr>
          <p:cNvSpPr/>
          <p:nvPr/>
        </p:nvSpPr>
        <p:spPr>
          <a:xfrm>
            <a:off x="45720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B2A695C-C36E-6368-5A2D-02027953E40D}"/>
              </a:ext>
            </a:extLst>
          </p:cNvPr>
          <p:cNvSpPr/>
          <p:nvPr/>
        </p:nvSpPr>
        <p:spPr>
          <a:xfrm>
            <a:off x="493776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92AF669-0C8C-5F47-A4F8-B349BD34A105}"/>
              </a:ext>
            </a:extLst>
          </p:cNvPr>
          <p:cNvSpPr/>
          <p:nvPr/>
        </p:nvSpPr>
        <p:spPr>
          <a:xfrm>
            <a:off x="5539208" y="10383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A7575F9-EEF0-D783-5732-D06B9B15F774}"/>
              </a:ext>
            </a:extLst>
          </p:cNvPr>
          <p:cNvSpPr/>
          <p:nvPr/>
        </p:nvSpPr>
        <p:spPr>
          <a:xfrm>
            <a:off x="49377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CB3862F-5FAD-F0B5-FC0B-EEFDD065F73D}"/>
              </a:ext>
            </a:extLst>
          </p:cNvPr>
          <p:cNvSpPr/>
          <p:nvPr/>
        </p:nvSpPr>
        <p:spPr>
          <a:xfrm>
            <a:off x="553212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32EBF31-2116-D1FB-1321-C00AA0A9A0CB}"/>
              </a:ext>
            </a:extLst>
          </p:cNvPr>
          <p:cNvSpPr/>
          <p:nvPr/>
        </p:nvSpPr>
        <p:spPr>
          <a:xfrm>
            <a:off x="493776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7A6AF44-3D4B-8674-FC37-B30CA9576BFA}"/>
              </a:ext>
            </a:extLst>
          </p:cNvPr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2DC2D0-7B0B-7F32-5B89-160867FAE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65" y="820180"/>
            <a:ext cx="4030909" cy="2728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86CF63-DE86-E955-0B4D-FB3F2FC50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65" y="3599956"/>
            <a:ext cx="3977640" cy="15069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40B741-4282-621C-13C2-107F58728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3367" y="2287744"/>
            <a:ext cx="4565026" cy="149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208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7B748-2289-BC62-024B-3C9748CB9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F0C037-AF10-7167-C563-06658BB58A1E}"/>
              </a:ext>
            </a:extLst>
          </p:cNvPr>
          <p:cNvSpPr/>
          <p:nvPr/>
        </p:nvSpPr>
        <p:spPr>
          <a:xfrm>
            <a:off x="0" y="-36576"/>
            <a:ext cx="91440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AD4A2A-FECE-C2F8-63A7-1A6B8F61B4CD}"/>
              </a:ext>
            </a:extLst>
          </p:cNvPr>
          <p:cNvSpPr/>
          <p:nvPr/>
        </p:nvSpPr>
        <p:spPr>
          <a:xfrm>
            <a:off x="45720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Ketika Di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Sensorless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DD7F644-1535-7B5A-A948-99C381901ACC}"/>
              </a:ext>
            </a:extLst>
          </p:cNvPr>
          <p:cNvSpPr/>
          <p:nvPr/>
        </p:nvSpPr>
        <p:spPr>
          <a:xfrm>
            <a:off x="45720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373952F-E4C7-3A45-D10B-983A1E3CCF9C}"/>
              </a:ext>
            </a:extLst>
          </p:cNvPr>
          <p:cNvSpPr/>
          <p:nvPr/>
        </p:nvSpPr>
        <p:spPr>
          <a:xfrm>
            <a:off x="1051560" y="10241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2F7E497-1E24-6D57-67BD-E7113F90AB22}"/>
              </a:ext>
            </a:extLst>
          </p:cNvPr>
          <p:cNvSpPr/>
          <p:nvPr/>
        </p:nvSpPr>
        <p:spPr>
          <a:xfrm>
            <a:off x="457200" y="1517904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85397BC-5C5E-7479-5582-F7CE17934EFD}"/>
              </a:ext>
            </a:extLst>
          </p:cNvPr>
          <p:cNvSpPr/>
          <p:nvPr/>
        </p:nvSpPr>
        <p:spPr>
          <a:xfrm>
            <a:off x="45720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68259F8-0F90-59D6-F17C-520BADEDD3B3}"/>
              </a:ext>
            </a:extLst>
          </p:cNvPr>
          <p:cNvSpPr/>
          <p:nvPr/>
        </p:nvSpPr>
        <p:spPr>
          <a:xfrm>
            <a:off x="45720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2134763-CC12-A42E-832D-53C2132FB5D6}"/>
              </a:ext>
            </a:extLst>
          </p:cNvPr>
          <p:cNvSpPr/>
          <p:nvPr/>
        </p:nvSpPr>
        <p:spPr>
          <a:xfrm>
            <a:off x="493776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FAEA50F-7F23-352D-ADBD-E394D8D914DB}"/>
              </a:ext>
            </a:extLst>
          </p:cNvPr>
          <p:cNvSpPr/>
          <p:nvPr/>
        </p:nvSpPr>
        <p:spPr>
          <a:xfrm>
            <a:off x="5539208" y="10383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5F90284-ECBC-9564-B078-A9D33465FAEF}"/>
              </a:ext>
            </a:extLst>
          </p:cNvPr>
          <p:cNvSpPr/>
          <p:nvPr/>
        </p:nvSpPr>
        <p:spPr>
          <a:xfrm>
            <a:off x="49377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6CDEE00-9C37-AB7F-65B2-62E168EA9416}"/>
              </a:ext>
            </a:extLst>
          </p:cNvPr>
          <p:cNvSpPr/>
          <p:nvPr/>
        </p:nvSpPr>
        <p:spPr>
          <a:xfrm>
            <a:off x="553212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85492E1-B6D4-3C97-D9B9-F628D42BBB0E}"/>
              </a:ext>
            </a:extLst>
          </p:cNvPr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0EE615-1B5D-4B0C-A283-163E3FCF8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86" y="768096"/>
            <a:ext cx="4129386" cy="28176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238B7F-ECC9-C50B-76EE-D059DE5D1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89" y="3689889"/>
            <a:ext cx="3841551" cy="13710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9A87C4-B968-1865-22E5-3DEA08813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2" y="2147313"/>
            <a:ext cx="4397813" cy="143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795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D9F1B-D9CD-F93D-D4F6-0B5BECC6B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A03458-A941-ACA3-268B-8D13326DE2B3}"/>
              </a:ext>
            </a:extLst>
          </p:cNvPr>
          <p:cNvSpPr/>
          <p:nvPr/>
        </p:nvSpPr>
        <p:spPr>
          <a:xfrm>
            <a:off x="0" y="-36576"/>
            <a:ext cx="91440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F7450A-78C0-10AB-CAAB-E7324AAC34D9}"/>
              </a:ext>
            </a:extLst>
          </p:cNvPr>
          <p:cNvSpPr/>
          <p:nvPr/>
        </p:nvSpPr>
        <p:spPr>
          <a:xfrm>
            <a:off x="45720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Ketika Di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HIGGS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62F853B-B8A9-3F64-E884-9D1B76FAB2E6}"/>
              </a:ext>
            </a:extLst>
          </p:cNvPr>
          <p:cNvSpPr/>
          <p:nvPr/>
        </p:nvSpPr>
        <p:spPr>
          <a:xfrm>
            <a:off x="45720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7BCAD16-96D1-A48D-96B4-0484EDBDE356}"/>
              </a:ext>
            </a:extLst>
          </p:cNvPr>
          <p:cNvSpPr/>
          <p:nvPr/>
        </p:nvSpPr>
        <p:spPr>
          <a:xfrm>
            <a:off x="1051560" y="10241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ED4D628-D69C-C0DB-F533-5F9E21252A37}"/>
              </a:ext>
            </a:extLst>
          </p:cNvPr>
          <p:cNvSpPr/>
          <p:nvPr/>
        </p:nvSpPr>
        <p:spPr>
          <a:xfrm>
            <a:off x="457200" y="1517904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3D2DD3F-5943-859B-34CC-EA7669010702}"/>
              </a:ext>
            </a:extLst>
          </p:cNvPr>
          <p:cNvSpPr/>
          <p:nvPr/>
        </p:nvSpPr>
        <p:spPr>
          <a:xfrm>
            <a:off x="45720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C69765C-1AE0-E69B-3383-2B8EBE7B70BB}"/>
              </a:ext>
            </a:extLst>
          </p:cNvPr>
          <p:cNvSpPr/>
          <p:nvPr/>
        </p:nvSpPr>
        <p:spPr>
          <a:xfrm>
            <a:off x="45720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7B27912-DC8A-C481-67B0-2901494EE5F8}"/>
              </a:ext>
            </a:extLst>
          </p:cNvPr>
          <p:cNvSpPr/>
          <p:nvPr/>
        </p:nvSpPr>
        <p:spPr>
          <a:xfrm>
            <a:off x="493776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19AE6D9-59D2-D615-2D60-6C3FA4736460}"/>
              </a:ext>
            </a:extLst>
          </p:cNvPr>
          <p:cNvSpPr/>
          <p:nvPr/>
        </p:nvSpPr>
        <p:spPr>
          <a:xfrm>
            <a:off x="5539208" y="10383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37E5258-ACA1-9C6A-B50F-AFD8DF3692DC}"/>
              </a:ext>
            </a:extLst>
          </p:cNvPr>
          <p:cNvSpPr/>
          <p:nvPr/>
        </p:nvSpPr>
        <p:spPr>
          <a:xfrm>
            <a:off x="49377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B5F2ABB-13C8-CA9E-2C10-EE721BCDBCCD}"/>
              </a:ext>
            </a:extLst>
          </p:cNvPr>
          <p:cNvSpPr/>
          <p:nvPr/>
        </p:nvSpPr>
        <p:spPr>
          <a:xfrm>
            <a:off x="553212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C4C5E39-9C51-11E3-9488-140E2504912F}"/>
              </a:ext>
            </a:extLst>
          </p:cNvPr>
          <p:cNvSpPr/>
          <p:nvPr/>
        </p:nvSpPr>
        <p:spPr>
          <a:xfrm>
            <a:off x="493776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93757D7-1EAC-6961-B261-1DE25AD6842B}"/>
              </a:ext>
            </a:extLst>
          </p:cNvPr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3E96B3-66FB-42E7-FBB8-21ADA54DF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45820"/>
            <a:ext cx="3581935" cy="2569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2E1FCA-1BF8-5559-78CC-5970979CF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128" y="3561762"/>
            <a:ext cx="3887712" cy="14308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3DDA60-A3C5-60B3-69B0-76032CC92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2015" y="1719059"/>
            <a:ext cx="4743852" cy="157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538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8289F-3921-8D3F-C09C-E8FB0F619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699A59F-7308-6318-863F-A51BEE1E0212}"/>
              </a:ext>
            </a:extLst>
          </p:cNvPr>
          <p:cNvSpPr/>
          <p:nvPr/>
        </p:nvSpPr>
        <p:spPr>
          <a:xfrm>
            <a:off x="0" y="-36576"/>
            <a:ext cx="91440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84534F-3D4F-399B-9061-E5C0AE7034F7}"/>
              </a:ext>
            </a:extLst>
          </p:cNvPr>
          <p:cNvSpPr/>
          <p:nvPr/>
        </p:nvSpPr>
        <p:spPr>
          <a:xfrm>
            <a:off x="45720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Ketika Di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SUSY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8FC1386-FC18-2E2E-2017-1A15F251235C}"/>
              </a:ext>
            </a:extLst>
          </p:cNvPr>
          <p:cNvSpPr/>
          <p:nvPr/>
        </p:nvSpPr>
        <p:spPr>
          <a:xfrm>
            <a:off x="45720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75A9764-135C-8EBA-25F4-DE0B4C2E7A67}"/>
              </a:ext>
            </a:extLst>
          </p:cNvPr>
          <p:cNvSpPr/>
          <p:nvPr/>
        </p:nvSpPr>
        <p:spPr>
          <a:xfrm>
            <a:off x="1051560" y="10241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D9104CF-EC84-7C79-129E-1E5DC1C982C4}"/>
              </a:ext>
            </a:extLst>
          </p:cNvPr>
          <p:cNvSpPr/>
          <p:nvPr/>
        </p:nvSpPr>
        <p:spPr>
          <a:xfrm>
            <a:off x="457200" y="1517904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C157D31-10E4-3D92-A8FB-E59441D428B8}"/>
              </a:ext>
            </a:extLst>
          </p:cNvPr>
          <p:cNvSpPr/>
          <p:nvPr/>
        </p:nvSpPr>
        <p:spPr>
          <a:xfrm>
            <a:off x="45720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1BD1905-CE4F-84E0-E3AD-F9C9F340AD85}"/>
              </a:ext>
            </a:extLst>
          </p:cNvPr>
          <p:cNvSpPr/>
          <p:nvPr/>
        </p:nvSpPr>
        <p:spPr>
          <a:xfrm>
            <a:off x="45720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DC04A98-2BFC-940E-D6CB-4648D01736FE}"/>
              </a:ext>
            </a:extLst>
          </p:cNvPr>
          <p:cNvSpPr/>
          <p:nvPr/>
        </p:nvSpPr>
        <p:spPr>
          <a:xfrm>
            <a:off x="493776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20CEAF4-C44C-1318-A0E1-564894B27CD4}"/>
              </a:ext>
            </a:extLst>
          </p:cNvPr>
          <p:cNvSpPr/>
          <p:nvPr/>
        </p:nvSpPr>
        <p:spPr>
          <a:xfrm>
            <a:off x="5539208" y="10383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60A3C1C-50D8-5C22-A135-9FFD78F61DFA}"/>
              </a:ext>
            </a:extLst>
          </p:cNvPr>
          <p:cNvSpPr/>
          <p:nvPr/>
        </p:nvSpPr>
        <p:spPr>
          <a:xfrm>
            <a:off x="49377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B10484E-87BC-FC8C-C4DE-924F75A63CF6}"/>
              </a:ext>
            </a:extLst>
          </p:cNvPr>
          <p:cNvSpPr/>
          <p:nvPr/>
        </p:nvSpPr>
        <p:spPr>
          <a:xfrm>
            <a:off x="553212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D78E457-8D3D-AB0F-6B79-92BB30AECEE4}"/>
              </a:ext>
            </a:extLst>
          </p:cNvPr>
          <p:cNvSpPr/>
          <p:nvPr/>
        </p:nvSpPr>
        <p:spPr>
          <a:xfrm>
            <a:off x="493776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B352016-28C3-8C21-0514-3969EBE3FF9B}"/>
              </a:ext>
            </a:extLst>
          </p:cNvPr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84C551-F676-8E02-CA4E-FFE3A6538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59" y="939546"/>
            <a:ext cx="3817581" cy="2571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025404-5D64-FF97-B811-A5FE22BC2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14166"/>
            <a:ext cx="3634703" cy="14174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2B13F3-75D0-7D0B-F07C-9D3AEEB53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751" y="2181221"/>
            <a:ext cx="4565100" cy="151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7338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14DAAE-2F37-4C0B-CD93-D9D6127D2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D60988-7F77-2E65-53E8-F5CE070CA4BD}"/>
              </a:ext>
            </a:extLst>
          </p:cNvPr>
          <p:cNvSpPr/>
          <p:nvPr/>
        </p:nvSpPr>
        <p:spPr>
          <a:xfrm>
            <a:off x="0" y="-29559"/>
            <a:ext cx="91440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5D04CD-3ABF-4DFC-A244-35757D52FF7B}"/>
              </a:ext>
            </a:extLst>
          </p:cNvPr>
          <p:cNvSpPr/>
          <p:nvPr/>
        </p:nvSpPr>
        <p:spPr>
          <a:xfrm>
            <a:off x="45720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Ketika Di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Airline Delay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747DF90-6812-9C35-EB87-FA7CF954C1DF}"/>
              </a:ext>
            </a:extLst>
          </p:cNvPr>
          <p:cNvSpPr/>
          <p:nvPr/>
        </p:nvSpPr>
        <p:spPr>
          <a:xfrm>
            <a:off x="45720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0FBA714-C46A-E87F-EEAA-EEF546112810}"/>
              </a:ext>
            </a:extLst>
          </p:cNvPr>
          <p:cNvSpPr/>
          <p:nvPr/>
        </p:nvSpPr>
        <p:spPr>
          <a:xfrm>
            <a:off x="1051560" y="10241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A0D513D-226C-6834-4867-4E19887944EB}"/>
              </a:ext>
            </a:extLst>
          </p:cNvPr>
          <p:cNvSpPr/>
          <p:nvPr/>
        </p:nvSpPr>
        <p:spPr>
          <a:xfrm>
            <a:off x="457200" y="1517904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DCDE846-A8A6-17B3-08F7-EB89DD6A94C7}"/>
              </a:ext>
            </a:extLst>
          </p:cNvPr>
          <p:cNvSpPr/>
          <p:nvPr/>
        </p:nvSpPr>
        <p:spPr>
          <a:xfrm>
            <a:off x="45720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F53F4C0-4D42-C594-057A-311A0EBFD859}"/>
              </a:ext>
            </a:extLst>
          </p:cNvPr>
          <p:cNvSpPr/>
          <p:nvPr/>
        </p:nvSpPr>
        <p:spPr>
          <a:xfrm>
            <a:off x="45720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458275D-51B3-AEA2-2D77-39A4E217DF73}"/>
              </a:ext>
            </a:extLst>
          </p:cNvPr>
          <p:cNvSpPr/>
          <p:nvPr/>
        </p:nvSpPr>
        <p:spPr>
          <a:xfrm>
            <a:off x="493776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6A4A935-6D13-8C9E-F581-3BEDE0D2E070}"/>
              </a:ext>
            </a:extLst>
          </p:cNvPr>
          <p:cNvSpPr/>
          <p:nvPr/>
        </p:nvSpPr>
        <p:spPr>
          <a:xfrm>
            <a:off x="5539208" y="10383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5E0F9F8-BB73-1266-F623-B9AAFC15647F}"/>
              </a:ext>
            </a:extLst>
          </p:cNvPr>
          <p:cNvSpPr/>
          <p:nvPr/>
        </p:nvSpPr>
        <p:spPr>
          <a:xfrm>
            <a:off x="49377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C901B33-F908-B752-185A-35E37A31962E}"/>
              </a:ext>
            </a:extLst>
          </p:cNvPr>
          <p:cNvSpPr/>
          <p:nvPr/>
        </p:nvSpPr>
        <p:spPr>
          <a:xfrm>
            <a:off x="553212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D1E5298-6545-4A5C-F064-B069F9A3122A}"/>
              </a:ext>
            </a:extLst>
          </p:cNvPr>
          <p:cNvSpPr/>
          <p:nvPr/>
        </p:nvSpPr>
        <p:spPr>
          <a:xfrm>
            <a:off x="493776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315239F-2922-1609-DE39-719FC1007848}"/>
              </a:ext>
            </a:extLst>
          </p:cNvPr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6A8B1D-01F5-A8AD-60DE-0B8F52D43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71" y="886968"/>
            <a:ext cx="3988592" cy="24880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A5A823-4F77-FEAB-BE64-1C56041C8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05" y="3493008"/>
            <a:ext cx="4152123" cy="15505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DBA1CC-1B09-BAF3-A2D4-7EAAE6059A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133" y="2091536"/>
            <a:ext cx="4337832" cy="141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53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BE708D-1068-49C1-CD85-407594B64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4C89BA-480A-38DC-375E-C09600830E4A}"/>
              </a:ext>
            </a:extLst>
          </p:cNvPr>
          <p:cNvSpPr/>
          <p:nvPr/>
        </p:nvSpPr>
        <p:spPr>
          <a:xfrm>
            <a:off x="0" y="-24207"/>
            <a:ext cx="91440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00A8C9-8219-6410-B33A-4B5A6C41385A}"/>
              </a:ext>
            </a:extLst>
          </p:cNvPr>
          <p:cNvSpPr/>
          <p:nvPr/>
        </p:nvSpPr>
        <p:spPr>
          <a:xfrm>
            <a:off x="45720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Hasil Tabel Akhir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84E5A00-AD8F-ABC4-7132-53CF1D9B14B5}"/>
              </a:ext>
            </a:extLst>
          </p:cNvPr>
          <p:cNvSpPr/>
          <p:nvPr/>
        </p:nvSpPr>
        <p:spPr>
          <a:xfrm>
            <a:off x="45720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569AA3E-8D5B-0162-EA63-550940CCDD8E}"/>
              </a:ext>
            </a:extLst>
          </p:cNvPr>
          <p:cNvSpPr/>
          <p:nvPr/>
        </p:nvSpPr>
        <p:spPr>
          <a:xfrm>
            <a:off x="457200" y="1517904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22785BC-5994-C5D4-BA55-526BD1D6A2DA}"/>
              </a:ext>
            </a:extLst>
          </p:cNvPr>
          <p:cNvSpPr/>
          <p:nvPr/>
        </p:nvSpPr>
        <p:spPr>
          <a:xfrm>
            <a:off x="45720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12E1CFF-870A-EC3F-FB5E-6B5E89C2E5DB}"/>
              </a:ext>
            </a:extLst>
          </p:cNvPr>
          <p:cNvSpPr/>
          <p:nvPr/>
        </p:nvSpPr>
        <p:spPr>
          <a:xfrm>
            <a:off x="45720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DC81A7C-5BB3-3EBC-AF1B-5D026FC932E4}"/>
              </a:ext>
            </a:extLst>
          </p:cNvPr>
          <p:cNvSpPr/>
          <p:nvPr/>
        </p:nvSpPr>
        <p:spPr>
          <a:xfrm>
            <a:off x="493776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22BDCD5-F9F6-39BC-7084-7A22838EFEDB}"/>
              </a:ext>
            </a:extLst>
          </p:cNvPr>
          <p:cNvSpPr/>
          <p:nvPr/>
        </p:nvSpPr>
        <p:spPr>
          <a:xfrm>
            <a:off x="5539208" y="10383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B5E52BD-4241-5464-AAE9-63940B4FACC6}"/>
              </a:ext>
            </a:extLst>
          </p:cNvPr>
          <p:cNvSpPr/>
          <p:nvPr/>
        </p:nvSpPr>
        <p:spPr>
          <a:xfrm>
            <a:off x="49377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A6A9C88-02F0-26C6-A9EC-C7C9B5EED601}"/>
              </a:ext>
            </a:extLst>
          </p:cNvPr>
          <p:cNvSpPr/>
          <p:nvPr/>
        </p:nvSpPr>
        <p:spPr>
          <a:xfrm>
            <a:off x="553212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69F8A41-10AA-1101-372E-9696DF6C6589}"/>
              </a:ext>
            </a:extLst>
          </p:cNvPr>
          <p:cNvSpPr/>
          <p:nvPr/>
        </p:nvSpPr>
        <p:spPr>
          <a:xfrm>
            <a:off x="4937760" y="3511296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4AD1E1C-3722-4C88-E40E-9DBE3AD4C73E}"/>
              </a:ext>
            </a:extLst>
          </p:cNvPr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5A4442-D24B-E2FE-2937-ED9135E83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52" y="940485"/>
            <a:ext cx="3126456" cy="37342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75A92D-AEE5-191F-4B54-10A8BFFD3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9479" y="1691825"/>
            <a:ext cx="5463076" cy="223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37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Deskripsi Detail Pekerjaan Anggota Kelompok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11887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859536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17320" y="841248"/>
            <a:ext cx="10058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72184" y="859536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841248"/>
            <a:ext cx="1737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78024" y="859536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Pekerjaan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60520" y="841248"/>
            <a:ext cx="5029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15384" y="859536"/>
            <a:ext cx="4956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Rincian Pekerjaan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188720"/>
            <a:ext cx="1188720" cy="56692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" y="122529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230611018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417320" y="1188720"/>
            <a:ext cx="1005840" cy="56692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1225296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 K.W.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23160" y="1188720"/>
            <a:ext cx="1737360" cy="56692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78024" y="1225296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60520" y="1188720"/>
            <a:ext cx="5029200" cy="56692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15384" y="1225296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A, B, C (Fungsi run_cpu, run_gpu, run_experiment). Implementasi K-Means CPU &amp; GPU, CUDA synchronization.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8600" y="1755648"/>
            <a:ext cx="1188720" cy="56692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" y="179222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417320" y="1755648"/>
            <a:ext cx="1005840" cy="56692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72184" y="1792224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23160" y="1755648"/>
            <a:ext cx="1737360" cy="56692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78024" y="1792224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&amp; Analisis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60520" y="1755648"/>
            <a:ext cx="5029200" cy="56692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15384" y="1792224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Perhitungan Independent Welch's t-Test. Interpretasi hasil statistik, penulisan laporan.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" y="2322576"/>
            <a:ext cx="1188720" cy="64008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2359152"/>
            <a:ext cx="1097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230611026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417320" y="2322576"/>
            <a:ext cx="1005840" cy="64008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72184" y="2359152"/>
            <a:ext cx="9144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Dafi C.S.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23160" y="2322576"/>
            <a:ext cx="1737360" cy="64008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78024" y="2359152"/>
            <a:ext cx="1645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60520" y="2322576"/>
            <a:ext cx="5029200" cy="64008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15384" y="2359152"/>
            <a:ext cx="493776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Memastikan data didapat secara legal (UCI Repository, sklearn built-in).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EDA Process (shape, missing values, duplikat, distribusi).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8600" y="2962656"/>
            <a:ext cx="1188720" cy="64008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3464" y="2999232"/>
            <a:ext cx="1097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417320" y="2962656"/>
            <a:ext cx="1005840" cy="64008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72184" y="2999232"/>
            <a:ext cx="9144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423160" y="2962656"/>
            <a:ext cx="1737360" cy="64008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78024" y="2999232"/>
            <a:ext cx="1645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160520" y="2962656"/>
            <a:ext cx="5029200" cy="64008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15384" y="2999232"/>
            <a:ext cx="493776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Missing Value Handling.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Outliers Checking.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Drop Duplicates (Wine Quality: 1.179 duplikat).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Normalisasi StandardScaler.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28600" y="3602736"/>
            <a:ext cx="1188720" cy="566928"/>
          </a:xfrm>
          <a:prstGeom prst="rect">
            <a:avLst/>
          </a:prstGeom>
          <a:solidFill>
            <a:srgbClr val="FEF9C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" y="3639312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230611010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417320" y="3602736"/>
            <a:ext cx="1005840" cy="566928"/>
          </a:xfrm>
          <a:prstGeom prst="rect">
            <a:avLst/>
          </a:prstGeom>
          <a:solidFill>
            <a:srgbClr val="FEF9C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72184" y="3639312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Fahrezi T.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423160" y="3602736"/>
            <a:ext cx="1737360" cy="566928"/>
          </a:xfrm>
          <a:prstGeom prst="rect">
            <a:avLst/>
          </a:prstGeom>
          <a:solidFill>
            <a:srgbClr val="FEF9C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78024" y="3639312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&amp; Presentasi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160520" y="3602736"/>
            <a:ext cx="5029200" cy="566928"/>
          </a:xfrm>
          <a:prstGeom prst="rect">
            <a:avLst/>
          </a:prstGeom>
          <a:solidFill>
            <a:srgbClr val="FEF9C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15384" y="363931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Pembuatan grafik bar chart, box plot, speedup chart. Desain slide presentasi dan pengumpulan referensi.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28600" y="4937760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Link Dataset &amp; Referensi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160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41605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yang Digunakan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388620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07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/ Seeds / Wine UCI — Dataset Kecil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4813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uci.edu/dataset/53/iris  |  uci.edu/dataset/236/seeds  |  uci.edu/dataset/109/wine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sklearn / UCI • 150–210 baris • 4–13 fitur • k=3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11480" y="1828800"/>
            <a:ext cx="388620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562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/ Adult / Dry Bean — Dataset Sedang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0299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uci.edu/dataset/186/wine+quality  |  uci.edu/dataset/2/adult  |  uci.edu/dataset/602/dry+bean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48640" y="2176272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Repository • 5.318–48.842 baris • 6–16 fitur • k=3–7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11480" y="2377440"/>
            <a:ext cx="388620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048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Covertype / Poker Hand / Sensorless — Dataset Besar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5786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uci.edu/dataset/31/covertype  |  uci.edu/dataset/158/poker+hand  |  uci.edu/dataset/325/sensorless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8640" y="2724912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Repository • 58.509–581.012 baris • 10–54 fitur • k=7–11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11480" y="2926080"/>
            <a:ext cx="388620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535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HIGGS / SUSY / Airline Delay — Dataset Sangat Besar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127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archive.ics.uci.edu/dataset/280/higgs  |  archive.ics.uci.edu/dataset/279/susy  |  kaggle.com: usdot/flight-delays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8640" y="3273552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/ Kaggle • masing-masing 1.000.000 baris • 5–28 fitur • k=5–7 • disimpan di Google Drive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09160" y="841248"/>
            <a:ext cx="41605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841248"/>
            <a:ext cx="4160520" cy="3474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85953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Pustaka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128016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scikit-learn: Machine Learning in Python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146304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 et al. (2011). JMLR 12, 2825–2830. https://scikit-learn.org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182880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RAPIDS cuML — GPU-accelerated ML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20116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Raschka et al. (2020). NVIDIA Corporation. https://github.com/rapidsai/cuml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46320" y="23774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MacQueen, J.B. (1967). K-Means Algorithm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256032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Proc. 5th Berkeley Symposium on Mathematical Statistics and Probability, 1, 281–297.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46320" y="292608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Welch, B.L. (1947). Independent t-Test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310896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Biometrika, 34(1–2), 28–35. doi:10.2307/2332510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46320" y="347472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Google Colab GPU Runtime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365760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LLC. https://colab.research.google.com/ — Menggunakan NVIDIA Tesla T4.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46320" y="402336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UCI Machine Learning Repository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46320" y="420624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&amp; Graff (2019). Univ. of California, Irvine. https://archive.ics.uci.edu/ml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3858768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90448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 Versi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14223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·  NumPy 2.0.2  ·  Pandas 2.2.2  ·  scikit-learn 1.6.1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1.16.3  ·  cuML 26.02.000  ·  cuPy (CUDA 13.0)  ·  NVIDIA Driver 580.82.07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vs GPU — Perbandingan Performa K-Means Clustering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78308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/ Seeds / Wine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334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0.40–0.50×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309067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Kecil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88920" y="2286000"/>
            <a:ext cx="178308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23774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 / Adult / Dry Bean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88920" y="26334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0.64–1.3×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88920" y="309067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88920" y="331012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178308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3774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Covertype / Poker / Sensor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6334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4.5–35×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754880" y="309067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331012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Besar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286000"/>
            <a:ext cx="178308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3774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HIGGS / SUSY / Airline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26334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3.6–50×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720840" y="309067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20840" y="331012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Besar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730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Dataset (4 Kategori)  ·  Kecil &amp; Sedang: CPU lebih efisien  ·  Besar &amp; Sangat Besar: GPU dominan  ·  Semua p-value &lt;&lt; 0.05 → H₀ Ditolak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Widyatama  |  Pembelajaran Mesin  |  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 K.W. (230611018)  ·  Dafi C.S. (230611026)  ·  M. Fahrezi T. (230611010)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2768</Words>
  <Application>Microsoft Office PowerPoint</Application>
  <PresentationFormat>On-screen Show (16:9)</PresentationFormat>
  <Paragraphs>489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vs GPU KMeans Clustering — Tugas Besar ML</dc:title>
  <dc:subject>PptxGenJS Presentation</dc:subject>
  <dc:creator>PptxGenJS</dc:creator>
  <cp:lastModifiedBy>Pandu Wibowo</cp:lastModifiedBy>
  <cp:revision>2</cp:revision>
  <dcterms:created xsi:type="dcterms:W3CDTF">2026-06-27T06:21:49Z</dcterms:created>
  <dcterms:modified xsi:type="dcterms:W3CDTF">2026-06-27T12:37:39Z</dcterms:modified>
</cp:coreProperties>
</file>